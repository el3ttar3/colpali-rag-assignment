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A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Zewail-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57200"/>
            <a:ext cx="54864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Multi-Modal Document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A5AD"/>
                </a:solidFill>
                <a:latin typeface="Calibri"/>
              </a:defRPr>
            </a:pPr>
            <a:r>
              <a:t>RAG-Based QA System using ColPali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389120"/>
            <a:ext cx="3017520" cy="36576"/>
          </a:xfrm>
          <a:prstGeom prst="rect">
            <a:avLst/>
          </a:prstGeom>
          <a:solidFill>
            <a:srgbClr val="00A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DSAI 413 - Assignment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BB"/>
                </a:solidFill>
                <a:latin typeface="Calibri"/>
              </a:defRPr>
            </a:pPr>
            <a:r>
              <a:t>Abdelrahman Al-Attar  |  ID: 202201353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Calibri"/>
              </a:defRPr>
            </a:pPr>
            <a:r>
              <a:t>Zewail City of Science, Technology and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&amp; Motivation</a:t>
            </a:r>
          </a:p>
        </p:txBody>
      </p:sp>
      <p:pic>
        <p:nvPicPr>
          <p:cNvPr id="4" name="Picture 3" descr="zc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182880"/>
            <a:ext cx="2312366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B83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Real-world documents contain text, tables, charts, figures, and maps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Traditional RAG extracts text only -- losing critical visual information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OCR pipelines are fragile: layout detection, chunking, parsing all fail silently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Tables and charts carry key data that text extraction mangles or drops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B83"/>
                </a:solidFill>
                <a:latin typeface="Calibri"/>
              </a:defRPr>
            </a:pPr>
            <a:r>
              <a:t>Our Approach: ColPali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Treat each document page as an IMAGE -- no text extraction needed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Use a Vision-Language Model (ColQwen2.5) for embedding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Generate multi-vector embeddings that capture text AND visual content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Late-interaction (MaxSim) matching for fine-grained retrieval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212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7B83"/>
                </a:solidFill>
                <a:latin typeface="Calibri"/>
              </a:defRPr>
            </a:pPr>
            <a:r>
              <a:t>Key Insight: ColPali preserves 100% of document visual information by treating pages as images, while traditional pipelines lose tables, charts, and figures during text extraction.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pic>
        <p:nvPicPr>
          <p:cNvPr id="4" name="Picture 3" descr="zc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182880"/>
            <a:ext cx="2312366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" y="1645920"/>
            <a:ext cx="1828800" cy="1097280"/>
          </a:xfrm>
          <a:prstGeom prst="rect">
            <a:avLst/>
          </a:prstGeom>
          <a:solidFill>
            <a:srgbClr val="00A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PDF</a:t>
            </a:r>
            <a:br/>
            <a:r>
              <a:t>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9202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A5AD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645920"/>
            <a:ext cx="1828800" cy="109728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Multi-Modal</a:t>
            </a:r>
            <a:br/>
            <a:r>
              <a:t>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9202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A5AD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645920"/>
            <a:ext cx="1828800" cy="1097280"/>
          </a:xfrm>
          <a:prstGeom prst="rect">
            <a:avLst/>
          </a:prstGeom>
          <a:solidFill>
            <a:srgbClr val="00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ColQwen2.5</a:t>
            </a:r>
            <a:br/>
            <a:r>
              <a:t>Embedding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202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A5AD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645920"/>
            <a:ext cx="1828800" cy="1097280"/>
          </a:xfrm>
          <a:prstGeom prst="rect">
            <a:avLst/>
          </a:prstGeom>
          <a:solidFill>
            <a:srgbClr val="00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MaxSim</a:t>
            </a:r>
            <a:br/>
            <a:r>
              <a:t>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192024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A5AD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1645920"/>
            <a:ext cx="182880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200"/>
              </a:spcBef>
              <a:defRPr sz="1400" b="1">
                <a:solidFill>
                  <a:srgbClr val="FFFFFF"/>
                </a:solidFill>
              </a:defRPr>
            </a:pPr>
            <a:r>
              <a:t>Gradio UI</a:t>
            </a:r>
            <a:br/>
            <a:r>
              <a:t>+ Citations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Ingestion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Text + Tables + Figures</a:t>
            </a:r>
            <a:br/>
            <a:r>
              <a:t>extracted per page via PyMuPDF</a:t>
            </a:r>
            <a:br/>
            <a:r>
              <a:t>Modality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Embedding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657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~1030 token vectors per page</a:t>
            </a:r>
            <a:br/>
            <a:r>
              <a:t>128-dim each</a:t>
            </a:r>
            <a:br/>
            <a:r>
              <a:t>Cached in Modal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57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MaxSim: per-token matching</a:t>
            </a:r>
            <a:br/>
            <a:r>
              <a:t>Top-K pages returned</a:t>
            </a:r>
            <a:br/>
            <a:r>
              <a:t>Source attribution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6576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Citation-backed answers</a:t>
            </a:r>
            <a:br/>
            <a:r>
              <a:t>[Doc: name, Page: N]</a:t>
            </a:r>
            <a:br/>
            <a:r>
              <a:t>Claude / Gemini / Fallback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Deployment Architecture (Modal)</a:t>
            </a:r>
          </a:p>
        </p:txBody>
      </p:sp>
      <p:pic>
        <p:nvPicPr>
          <p:cNvPr id="4" name="Picture 3" descr="zc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182880"/>
            <a:ext cx="2312366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83"/>
                </a:solidFill>
                <a:latin typeface="Calibri"/>
              </a:defRPr>
            </a:pPr>
            <a:r>
              <a:t>Modal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103120"/>
            <a:ext cx="4114800" cy="2286000"/>
          </a:xfrm>
          <a:prstGeom prst="rect">
            <a:avLst/>
          </a:prstGeom>
          <a:solidFill>
            <a:srgbClr val="E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ColPaliEngine  (T4 GPU)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ColQwen2.5 model loaded on CUDA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Multi-vector embedding generation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MaxSim retrieval scoring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Scales to zero when idle (5 min)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103120"/>
            <a:ext cx="4114800" cy="228600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Gradio UI  (CPU)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65176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Interactive web interface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Calls GPU engine remotely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Displays results + citations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Stays alive 20 min after last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A5AD"/>
                </a:solidFill>
                <a:latin typeface="Calibri"/>
              </a:defRPr>
            </a:pPr>
            <a:r>
              <a:t>&lt;-- remote --&gt;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4754880"/>
            <a:ext cx="4846320" cy="73152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2E"/>
                </a:solidFill>
                <a:latin typeface="Calibri"/>
              </a:defRPr>
            </a:pPr>
            <a:r>
              <a:t>Persistent Volume:  PDFs + Cached Embeddings (survives restarts)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83"/>
                </a:solidFill>
                <a:latin typeface="Calibri"/>
              </a:defRPr>
            </a:pPr>
            <a:r>
              <a:t>Live Demo:  https://s-abdulrahman-elattar--colpali-rag-ui-dev.modal.run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Dataset: IPCC AR6 Climate Report</a:t>
            </a:r>
          </a:p>
        </p:txBody>
      </p:sp>
      <p:pic>
        <p:nvPicPr>
          <p:cNvPr id="4" name="Picture 3" descr="zc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182880"/>
            <a:ext cx="2312366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83"/>
                </a:solidFill>
                <a:latin typeface="Calibri"/>
              </a:defRPr>
            </a:pPr>
            <a:r>
              <a:t>Why this dataset?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Publicly available from ipcc.ch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Maximally multi-modal: charts, maps, tables, figures, dense text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Real-world scientific documents (not synthetic)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Unique choice -- unlikely to overlap with classmates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83"/>
                </a:solidFill>
                <a:latin typeface="Calibri"/>
              </a:defRPr>
            </a:pPr>
            <a:r>
              <a:t>What we indexed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2 (SPM + Technical Summary)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23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Total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50 (25 per document)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Content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text + table + figure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Tables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Auto-extracted via PyMuPDF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Figures Found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Embedded images detected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ColPali Works</a:t>
            </a:r>
          </a:p>
        </p:txBody>
      </p:sp>
      <p:pic>
        <p:nvPicPr>
          <p:cNvPr id="4" name="Picture 3" descr="zc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182880"/>
            <a:ext cx="2312366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83"/>
                </a:solidFill>
                <a:latin typeface="Calibri"/>
              </a:defRPr>
            </a:pPr>
            <a:r>
              <a:t>Multi-Vector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Each page produces ~1030 token embeddings (128-dim each)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Each token corresponds to a visual patch of the page image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Both text AND visual content are captured in the same space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A query also gets multi-vector embeddings (~6-15 tokens)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83"/>
                </a:solidFill>
                <a:latin typeface="Calibri"/>
              </a:defRPr>
            </a:pPr>
            <a:r>
              <a:t>MaxSim Scoring (Late Interaction)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For each query token: find its best-matching page patch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MaxSim(Q, P) = SUM of max similarities per query token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Fine-grained: a query about a table cell matches that exact region</a:t>
            </a:r>
          </a:p>
          <a:p>
            <a:pPr>
              <a:spcAft>
                <a:spcPts val="600"/>
              </a:spcAft>
              <a:defRPr sz="1500">
                <a:solidFill>
                  <a:srgbClr val="2D2D2D"/>
                </a:solidFill>
                <a:latin typeface="Calibri"/>
              </a:defRPr>
            </a:pPr>
            <a:r>
              <a:t>Much more precise than single-vector cosine similarity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572000"/>
            <a:ext cx="822960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663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Calibri"/>
              </a:defRPr>
            </a:pPr>
            <a:r>
              <a:t>MaxSim(Q, P)  =  SUM_i  max_j  cos(q_i, p_j)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212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2D2D"/>
                </a:solidFill>
                <a:latin typeface="Calibri"/>
              </a:defRPr>
            </a:pPr>
            <a:r>
              <a:t>Each query token q_i finds its best match among all page patches p_j, then scores are summed.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Features</a:t>
            </a:r>
          </a:p>
        </p:txBody>
      </p:sp>
      <p:pic>
        <p:nvPicPr>
          <p:cNvPr id="4" name="Picture 3" descr="zc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182880"/>
            <a:ext cx="2312366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25603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Multi-Modal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Text + tables + figures</a:t>
            </a:r>
            <a:br/>
            <a:r>
              <a:t>extracted per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1371600"/>
            <a:ext cx="25603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Visual Embedding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1945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ColQwen2.5 multi-vector</a:t>
            </a:r>
            <a:br/>
            <a:r>
              <a:t>embeddings (T4 GPU)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25603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Smart Chunking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Page-level visual chunking</a:t>
            </a:r>
            <a:br/>
            <a:r>
              <a:t>no OCR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371600"/>
            <a:ext cx="25603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645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MaxSim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1945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Late-interaction scoring</a:t>
            </a:r>
            <a:br/>
            <a:r>
              <a:t>fine-grained matching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25603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Source Attribution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[Doc: name, Page: N]</a:t>
            </a:r>
            <a:br/>
            <a:r>
              <a:t>citations in every answer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3840480"/>
            <a:ext cx="25603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Evaluation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663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10 benchmark queries across</a:t>
            </a:r>
            <a:br/>
            <a:r>
              <a:t>text/table/figure/multi-modal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840480"/>
            <a:ext cx="25603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Similarity Heatmaps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663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Visualize which page regions</a:t>
            </a:r>
            <a:br/>
            <a:r>
              <a:t>match query tokens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3840480"/>
            <a:ext cx="2560320" cy="20116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4114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Token Pooling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66344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3-5x compression with</a:t>
            </a:r>
            <a:br/>
            <a:r>
              <a:t>&lt;3% quality loss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Evaluation Results</a:t>
            </a:r>
          </a:p>
        </p:txBody>
      </p:sp>
      <p:pic>
        <p:nvPicPr>
          <p:cNvPr id="4" name="Picture 3" descr="zc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182880"/>
            <a:ext cx="2312366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83"/>
                </a:solidFill>
                <a:latin typeface="Calibri"/>
              </a:defRPr>
            </a:pPr>
            <a:r>
              <a:t>Benchmark: 10 queries across 4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01168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920240"/>
            <a:ext cx="109728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965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# Queries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920240"/>
            <a:ext cx="32004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9659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Query 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920240"/>
            <a:ext cx="5029200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1965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377440"/>
            <a:ext cx="201168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Factual (text)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377440"/>
            <a:ext cx="109728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423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2377440"/>
            <a:ext cx="32004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24231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Definition, fact recall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2377440"/>
            <a:ext cx="50292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2423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Strong text retrieval matches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83464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880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Structured (table)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83464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880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283464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28803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Table lookup, scenario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283464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2880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Finds pages with actual tables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291840"/>
            <a:ext cx="201168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Visual (figure)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291840"/>
            <a:ext cx="109728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3291840"/>
            <a:ext cx="32004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33375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Chart, map, graph queries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3291840"/>
            <a:ext cx="50292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3337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ColPali beats TF-IDF significantly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" y="374904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3794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Multi-modal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749040"/>
            <a:ext cx="10972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3794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0" y="374904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0" y="37947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Text + figure combined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40880" y="3749040"/>
            <a:ext cx="5029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0" y="3794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Calibri"/>
              </a:defRPr>
            </a:pPr>
            <a:r>
              <a:t>Retrieves pages with both modalities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83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4937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Modality Match Rate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High -- ColPali retrieves the right content type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5303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Score Discrimination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5303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Strong gap between top-1 and top-2 results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5669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ColPali vs TF-IDF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0" y="5669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ColPali wins on visual queries; TF-IDF matches on text-only queries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6035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Token Pooling (3x)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40480" y="6035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Top-5 overlap preserved with 66% fewer vectors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ColPali vs. Traditional RAG</a:t>
            </a:r>
          </a:p>
        </p:txBody>
      </p:sp>
      <p:pic>
        <p:nvPicPr>
          <p:cNvPr id="4" name="Picture 3" descr="zc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182880"/>
            <a:ext cx="2312366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256032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Aspect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41148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4630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Traditional RAG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371600"/>
            <a:ext cx="41148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4630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ColPali 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20240"/>
            <a:ext cx="25603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920240"/>
            <a:ext cx="41148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0116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3333"/>
                </a:solidFill>
                <a:latin typeface="Calibri"/>
              </a:defRPr>
            </a:pPr>
            <a:r>
              <a:t>Extracted text (lossy)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920240"/>
            <a:ext cx="41148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20116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6644"/>
                </a:solidFill>
                <a:latin typeface="Calibri"/>
              </a:defRPr>
            </a:pPr>
            <a:r>
              <a:t>Page images (lossless)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46888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Visual Elements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468880"/>
            <a:ext cx="4114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25603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3333"/>
                </a:solidFill>
                <a:latin typeface="Calibri"/>
              </a:defRPr>
            </a:pPr>
            <a:r>
              <a:t>Lost during extraction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468880"/>
            <a:ext cx="4114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256032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6644"/>
                </a:solidFill>
                <a:latin typeface="Calibri"/>
              </a:defRPr>
            </a:pPr>
            <a:r>
              <a:t>Fully preserved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017520"/>
            <a:ext cx="25603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1089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017520"/>
            <a:ext cx="41148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29000" y="31089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3333"/>
                </a:solidFill>
                <a:latin typeface="Calibri"/>
              </a:defRPr>
            </a:pPr>
            <a:r>
              <a:t>OCR + layout + chunking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3017520"/>
            <a:ext cx="41148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43800" y="31089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6644"/>
                </a:solidFill>
                <a:latin typeface="Calibri"/>
              </a:defRPr>
            </a:pPr>
            <a:r>
              <a:t>PDF -&gt; image (one step)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56616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657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Embeddings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566160"/>
            <a:ext cx="4114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36576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3333"/>
                </a:solidFill>
                <a:latin typeface="Calibri"/>
              </a:defRPr>
            </a:pPr>
            <a:r>
              <a:t>1 vector per chunk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0" y="3566160"/>
            <a:ext cx="4114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365760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6644"/>
                </a:solidFill>
                <a:latin typeface="Calibri"/>
              </a:defRPr>
            </a:pPr>
            <a:r>
              <a:t>~1030 vectors per page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114800"/>
            <a:ext cx="25603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206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Matching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4114800"/>
            <a:ext cx="41148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9000" y="42062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3333"/>
                </a:solidFill>
                <a:latin typeface="Calibri"/>
              </a:defRPr>
            </a:pPr>
            <a:r>
              <a:t>Cosine similarity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06640" y="4114800"/>
            <a:ext cx="411480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43800" y="42062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6644"/>
                </a:solidFill>
                <a:latin typeface="Calibri"/>
              </a:defRPr>
            </a:pPr>
            <a:r>
              <a:t>MaxSim (per-token matching)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663440"/>
            <a:ext cx="25603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4754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Calibri"/>
              </a:defRPr>
            </a:pPr>
            <a:r>
              <a:t>Interpretability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91840" y="4663440"/>
            <a:ext cx="4114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29000" y="47548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3333"/>
                </a:solidFill>
                <a:latin typeface="Calibri"/>
              </a:defRPr>
            </a:pPr>
            <a:r>
              <a:t>Limited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06640" y="4663440"/>
            <a:ext cx="41148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43800" y="47548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6644"/>
                </a:solidFill>
                <a:latin typeface="Calibri"/>
              </a:defRPr>
            </a:pPr>
            <a:r>
              <a:t>Patch-level similarity heatmaps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83"/>
                </a:solidFill>
                <a:latin typeface="Calibri"/>
              </a:defRPr>
            </a:pPr>
            <a:r>
              <a:t>Trade-offs &amp; Mitigations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669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Storage: ~1000 vectors/page -&gt; Token pooling reduces by 3-5x with &lt;3% quality loss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Compute: VLM inference slower -&gt; Embeddings cached to Modal Volume (compute once)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  <a:latin typeface="Calibri"/>
              </a:defRPr>
            </a:pPr>
            <a:r>
              <a:t>LLM cost: Image tokens expensive -&gt; Thumbnail resizing before API calls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Codebase &amp; Project Structure</a:t>
            </a:r>
          </a:p>
        </p:txBody>
      </p:sp>
      <p:pic>
        <p:nvPicPr>
          <p:cNvPr id="4" name="Picture 3" descr="zc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182880"/>
            <a:ext cx="2312366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34747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Modal deployment</a:t>
            </a:r>
            <a:br/>
            <a:r>
              <a:t>GPU engine + Gradio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371600"/>
            <a:ext cx="34747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src/ingestion.py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Multi-modal PDF ingestion</a:t>
            </a:r>
            <a:br/>
            <a:r>
              <a:t>text + tables + figures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8" y="1371600"/>
            <a:ext cx="34747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8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src/embedding.py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8" y="2103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ColQwen2.5 model loading</a:t>
            </a:r>
            <a:br/>
            <a:r>
              <a:t>embedding generation + caching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34747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src/retrieval.py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MaxSim scoring engine</a:t>
            </a:r>
            <a:br/>
            <a:r>
              <a:t>top-K retrieval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59" y="3657600"/>
            <a:ext cx="34747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src/generation.py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LLM answer generation</a:t>
            </a:r>
            <a:br/>
            <a:r>
              <a:t>Claude / Gemini / fallback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8" y="3657600"/>
            <a:ext cx="347472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18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83"/>
                </a:solidFill>
                <a:latin typeface="Calibri"/>
              </a:defRPr>
            </a:pPr>
            <a:r>
              <a:t>src/evaluation.py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8" y="43891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Calibri"/>
              </a:defRPr>
            </a:pPr>
            <a:r>
              <a:t>Benchmark evaluation suite</a:t>
            </a:r>
            <a:br/>
            <a:r>
              <a:t>per-category metrics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83"/>
                </a:solidFill>
                <a:latin typeface="Calibri"/>
              </a:defRPr>
            </a:pPr>
            <a:r>
              <a:t>GitHub:  github.com/el3ttar3/colpali-rag-assignment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A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zc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914400"/>
            <a:ext cx="5780915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A5AD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06240"/>
            <a:ext cx="3017520" cy="36576"/>
          </a:xfrm>
          <a:prstGeom prst="rect">
            <a:avLst/>
          </a:prstGeom>
          <a:solidFill>
            <a:srgbClr val="00A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Live Demo:  s-abdulrahman-elattar--colpali-rag-ui-dev.modal.run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GitHub:  github.com/el3ttar3/colpali-rag-assignment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Calibri"/>
              </a:defRPr>
            </a:pPr>
            <a:r>
              <a:t>Abdelrahman Al-Attar  |  ID: 202201353  |  DSAI 413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